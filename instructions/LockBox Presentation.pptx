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360868-9062-4009-A375-45B84B115211}">
  <a:tblStyle styleId="{77360868-9062-4009-A375-45B84B11521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792ede34_1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4792ede34_1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4792ede34_1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4792ede34_1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text and a blue and yellow shield&#10;&#10;AI-generated content may be incorrect." id="118" name="Google Shape;1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60" y="352800"/>
            <a:ext cx="1828080" cy="1293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/>
        </p:nvSpPr>
        <p:spPr>
          <a:xfrm>
            <a:off x="2798177" y="522350"/>
            <a:ext cx="624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LockBox</a:t>
            </a:r>
            <a:endParaRPr b="0" i="0" sz="5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3701677" y="1600200"/>
            <a:ext cx="40884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Code: CSE 3200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2613126" y="2068250"/>
            <a:ext cx="6876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 Title: Software Development Project ||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2798174" y="2558338"/>
            <a:ext cx="60096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Mentor: Mst. Sahela Rahman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7"/>
          <p:cNvSpPr txBox="1"/>
          <p:nvPr/>
        </p:nvSpPr>
        <p:spPr>
          <a:xfrm>
            <a:off x="4721760" y="3152160"/>
            <a:ext cx="2743200" cy="46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Members: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7"/>
          <p:cNvSpPr txBox="1"/>
          <p:nvPr/>
        </p:nvSpPr>
        <p:spPr>
          <a:xfrm>
            <a:off x="3057840" y="3594600"/>
            <a:ext cx="6242760" cy="120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Md </a:t>
            </a: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Samiul Islam </a:t>
            </a:r>
            <a:r>
              <a:rPr lang="en-GB" sz="2100"/>
              <a:t>-&gt; </a:t>
            </a: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ID: 0322320105101001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Simanto Sarkar </a:t>
            </a:r>
            <a:r>
              <a:rPr lang="en-GB" sz="2100"/>
              <a:t>-&gt;</a:t>
            </a: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ID: 0322320105101003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Chanchal Kumar </a:t>
            </a:r>
            <a:r>
              <a:rPr lang="en-GB" sz="2100"/>
              <a:t>-&gt;</a:t>
            </a:r>
            <a:r>
              <a:rPr b="0" i="0" lang="en-GB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ID: 0322320105101055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3057840" y="4794850"/>
            <a:ext cx="4160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Batch: 23rd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Semester: 6th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3057853" y="5630400"/>
            <a:ext cx="74115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Dept: </a:t>
            </a: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Science &amp; Engineering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3484925" y="6327850"/>
            <a:ext cx="53886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 28 February, 2026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27"/>
          <p:cNvCxnSpPr/>
          <p:nvPr/>
        </p:nvCxnSpPr>
        <p:spPr>
          <a:xfrm flipH="1" rot="10800000">
            <a:off x="3252960" y="3516480"/>
            <a:ext cx="5473080" cy="43200"/>
          </a:xfrm>
          <a:prstGeom prst="straightConnector1">
            <a:avLst/>
          </a:prstGeom>
          <a:noFill/>
          <a:ln cap="flat" cmpd="sng" w="19075">
            <a:solidFill>
              <a:srgbClr val="0D0D0D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/>
        </p:nvSpPr>
        <p:spPr>
          <a:xfrm>
            <a:off x="1267025" y="281650"/>
            <a:ext cx="45696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to be </a:t>
            </a:r>
            <a:r>
              <a:rPr b="1" lang="en-GB" sz="2800"/>
              <a:t>discussed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1356333" y="985425"/>
            <a:ext cx="4612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905379" y="1126047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6" name="Google Shape;136;p28"/>
          <p:cNvSpPr txBox="1"/>
          <p:nvPr/>
        </p:nvSpPr>
        <p:spPr>
          <a:xfrm>
            <a:off x="1356325" y="1566638"/>
            <a:ext cx="4612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915668" y="1671985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8" name="Google Shape;138;p28"/>
          <p:cNvSpPr txBox="1"/>
          <p:nvPr/>
        </p:nvSpPr>
        <p:spPr>
          <a:xfrm>
            <a:off x="1356325" y="2107711"/>
            <a:ext cx="4612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Work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8"/>
          <p:cNvSpPr/>
          <p:nvPr/>
        </p:nvSpPr>
        <p:spPr>
          <a:xfrm>
            <a:off x="857063" y="2217923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0" name="Google Shape;140;p28"/>
          <p:cNvSpPr txBox="1"/>
          <p:nvPr/>
        </p:nvSpPr>
        <p:spPr>
          <a:xfrm>
            <a:off x="1327884" y="2716135"/>
            <a:ext cx="85125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Methodology &amp; Tools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41" name="Google Shape;141;p28"/>
          <p:cNvSpPr/>
          <p:nvPr/>
        </p:nvSpPr>
        <p:spPr>
          <a:xfrm>
            <a:off x="915671" y="2857107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2" name="Google Shape;142;p28"/>
          <p:cNvSpPr txBox="1"/>
          <p:nvPr/>
        </p:nvSpPr>
        <p:spPr>
          <a:xfrm>
            <a:off x="1267020" y="3899723"/>
            <a:ext cx="61380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 </a:t>
            </a: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Project's Expected Result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943508" y="4006500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4" name="Google Shape;144;p28"/>
          <p:cNvSpPr txBox="1"/>
          <p:nvPr/>
        </p:nvSpPr>
        <p:spPr>
          <a:xfrm>
            <a:off x="1327868" y="4520462"/>
            <a:ext cx="64968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Tentative timeline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943511" y="4562559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6" name="Google Shape;146;p28"/>
          <p:cNvSpPr txBox="1"/>
          <p:nvPr/>
        </p:nvSpPr>
        <p:spPr>
          <a:xfrm>
            <a:off x="1289735" y="5141167"/>
            <a:ext cx="70239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905378" y="5256444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8" name="Google Shape;148;p28"/>
          <p:cNvSpPr txBox="1"/>
          <p:nvPr/>
        </p:nvSpPr>
        <p:spPr>
          <a:xfrm>
            <a:off x="1327882" y="5695200"/>
            <a:ext cx="64968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915675" y="5774822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0" name="Google Shape;150;p28"/>
          <p:cNvSpPr/>
          <p:nvPr/>
        </p:nvSpPr>
        <p:spPr>
          <a:xfrm>
            <a:off x="835030" y="262455"/>
            <a:ext cx="432005" cy="343818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1" name="Google Shape;151;p28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1327884" y="3345710"/>
            <a:ext cx="85125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Architecture</a:t>
            </a:r>
            <a:r>
              <a:rPr lang="en-GB" sz="2400"/>
              <a:t> Diagram, Logic Flowchart &amp; ER Diagram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53" name="Google Shape;153;p28"/>
          <p:cNvSpPr/>
          <p:nvPr/>
        </p:nvSpPr>
        <p:spPr>
          <a:xfrm>
            <a:off x="943508" y="3450432"/>
            <a:ext cx="387936" cy="285282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/>
        </p:nvSpPr>
        <p:spPr>
          <a:xfrm>
            <a:off x="796675" y="1717550"/>
            <a:ext cx="10701000" cy="38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2400" u="none" cap="none" strike="noStrike">
                <a:solidFill>
                  <a:srgbClr val="000000"/>
                </a:solidFill>
              </a:rPr>
              <a:t>As digital footprints expand, the average user manages dozens of unique credentials. This has led to two dangerous behaviors: "password recycling" or reliance on centralized cloud-based managers. While convenient, cloud managers represent a single point of failure and an attractive target for sophisticated state-level and independent hackers. LockBox is a desktop-based "Zero-Knowledge" utility designed to eliminate these risks by ensuring that sensitive data never leaves the user's local hardware.</a:t>
            </a:r>
            <a:endParaRPr i="0" sz="2400" u="none" cap="none" strike="noStrike"/>
          </a:p>
        </p:txBody>
      </p:sp>
      <p:sp>
        <p:nvSpPr>
          <p:cNvPr id="159" name="Google Shape;159;p29"/>
          <p:cNvSpPr txBox="1"/>
          <p:nvPr/>
        </p:nvSpPr>
        <p:spPr>
          <a:xfrm>
            <a:off x="1266480" y="882360"/>
            <a:ext cx="3196080" cy="52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808560" y="943200"/>
            <a:ext cx="432000" cy="343800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1" name="Google Shape;161;p29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/>
        </p:nvSpPr>
        <p:spPr>
          <a:xfrm>
            <a:off x="770700" y="1545425"/>
            <a:ext cx="10650600" cy="4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Hardened Encryption: To implement a "double-wall" security layer using PBKDF2 for key derivation and AES-256-GCM for</a:t>
            </a:r>
            <a:r>
              <a:rPr lang="en-GB" sz="2400"/>
              <a:t> </a:t>
            </a: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encryption.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Sovereignty: To utilize SQLite as a localized, serverless database engine, ensuring the user has total physical control over their vault file.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Zero-Knowledge Architecture: To ensure that the application itself never knows the Master Password; it only facilitates the math required to unlock the data.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43080" lvl="0" marL="34308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Modern UI/UX: To provide a streamlined, "Flat Design" interface that makes security accessible rather than cumbersome.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 txBox="1"/>
          <p:nvPr/>
        </p:nvSpPr>
        <p:spPr>
          <a:xfrm>
            <a:off x="1580475" y="625617"/>
            <a:ext cx="319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/>
          <p:nvPr/>
        </p:nvSpPr>
        <p:spPr>
          <a:xfrm>
            <a:off x="1016280" y="715295"/>
            <a:ext cx="432005" cy="343818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9" name="Google Shape;169;p30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/>
        </p:nvSpPr>
        <p:spPr>
          <a:xfrm>
            <a:off x="1298155" y="209520"/>
            <a:ext cx="319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Work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/>
          <p:nvPr/>
        </p:nvSpPr>
        <p:spPr>
          <a:xfrm>
            <a:off x="778035" y="299235"/>
            <a:ext cx="432005" cy="343818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6" name="Google Shape;176;p31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697800" y="822575"/>
            <a:ext cx="10796400" cy="5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Before designing LockBox, we analyzed industry leaders to identify security gaps and best practices: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/>
              <a:t>KeePass (Local-Only)</a:t>
            </a:r>
            <a:r>
              <a:rPr lang="en-GB" sz="2000"/>
              <a:t>: The gold standard for local password management. It uses the .kdbx file format. While highly secure, its UI is often cited as dated and complex for average users.  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/>
              <a:t>Bitwarden (Open Source)</a:t>
            </a:r>
            <a:r>
              <a:rPr lang="en-GB" sz="2000"/>
              <a:t>: Known for its transparent security audits. It uses PBKDF2 with 600,000+ iterations for key derivation. LockBox adopts this standard for local deployment.  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GB" sz="2000"/>
              <a:t>LastPass (Cloud-Based)</a:t>
            </a:r>
            <a:r>
              <a:rPr lang="en-GB" sz="2000"/>
              <a:t>: Suffered major breaches in 2022/2023. This reinforces the need for local-only managers where the user—not the provider—holds the encrypted vault.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Key Findings</a:t>
            </a:r>
            <a:r>
              <a:rPr lang="en-GB" sz="2000"/>
              <a:t>: The "Master Password" must never be stored. Instead, a derived key must be used for encryption, and a high-iteration hash should be used for authentication to prevent brute-force attacks on modern GPUs.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/>
        </p:nvSpPr>
        <p:spPr>
          <a:xfrm>
            <a:off x="883450" y="1850752"/>
            <a:ext cx="9317100" cy="3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Key Derivation: PBKDF2 with HMAC-SHA256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2200" u="none" cap="none" strike="noStrike">
                <a:solidFill>
                  <a:srgbClr val="000000"/>
                </a:solidFill>
              </a:rPr>
              <a:t>The Master Password is not used directly. Instead, we use PBKDF2 (Password-Based Key Derivation Function 2):</a:t>
            </a:r>
            <a:endParaRPr i="0" sz="22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200" u="none" cap="none" strike="noStrike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 </a:t>
            </a:r>
            <a:r>
              <a:rPr i="0" lang="en-GB" sz="2200" u="none" cap="none" strike="noStrike">
                <a:solidFill>
                  <a:srgbClr val="000000"/>
                </a:solidFill>
              </a:rPr>
              <a:t>Salt: A unique 16-byte random salt stored in the DB.</a:t>
            </a:r>
            <a:endParaRPr i="0" sz="2200" u="none" cap="none" strike="noStrike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 </a:t>
            </a:r>
            <a:r>
              <a:rPr i="0" lang="en-GB" sz="2200" u="none" cap="none" strike="noStrike">
                <a:solidFill>
                  <a:srgbClr val="000000"/>
                </a:solidFill>
              </a:rPr>
              <a:t>Iterations: 600,000 (minimum).</a:t>
            </a:r>
            <a:endParaRPr i="0" sz="2200" u="none" cap="none" strike="noStrike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 </a:t>
            </a:r>
            <a:r>
              <a:rPr i="0" lang="en-GB" sz="2200" u="none" cap="none" strike="noStrike">
                <a:solidFill>
                  <a:srgbClr val="000000"/>
                </a:solidFill>
              </a:rPr>
              <a:t>Derived Key: 256 bits.</a:t>
            </a:r>
            <a:endParaRPr i="0" sz="2200" u="none" cap="none" strike="noStrike"/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 </a:t>
            </a:r>
            <a:r>
              <a:rPr i="0" lang="en-GB" sz="2200" u="none" cap="none" strike="noStrike">
                <a:solidFill>
                  <a:srgbClr val="000000"/>
                </a:solidFill>
              </a:rPr>
              <a:t>Purpose: This makes "offline" brute-force attacks extremely slow and expensive for hackers.</a:t>
            </a:r>
            <a:endParaRPr i="0" sz="2200" u="none" cap="none" strike="noStrike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2"/>
          <p:cNvSpPr txBox="1"/>
          <p:nvPr/>
        </p:nvSpPr>
        <p:spPr>
          <a:xfrm>
            <a:off x="1359000" y="858950"/>
            <a:ext cx="696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Methodology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2"/>
          <p:cNvSpPr/>
          <p:nvPr/>
        </p:nvSpPr>
        <p:spPr>
          <a:xfrm>
            <a:off x="935640" y="931320"/>
            <a:ext cx="432000" cy="343800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5" name="Google Shape;185;p32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/>
        </p:nvSpPr>
        <p:spPr>
          <a:xfrm>
            <a:off x="958320" y="1945080"/>
            <a:ext cx="9236520" cy="4155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Encryption: AES-256-GCM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many apps use AES-CBC, LockBox uses AES-GCM (Galois/Counter Mode).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97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/>
              <a:t> 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GCM? Unlike CBC, GCM provides Authenticated Encryption. It ensures that the data has not been tampered with by adding an Authentication Tag to the encrypted block.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97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/>
              <a:t> 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IV (Initialization Vector): A unique 12-byte IV is generated for every single password entry to prevent pattern recognition.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3"/>
          <p:cNvSpPr txBox="1"/>
          <p:nvPr/>
        </p:nvSpPr>
        <p:spPr>
          <a:xfrm>
            <a:off x="1359000" y="858950"/>
            <a:ext cx="651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Methodology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935640" y="931320"/>
            <a:ext cx="432000" cy="343800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3" name="Google Shape;193;p33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/>
        </p:nvSpPr>
        <p:spPr>
          <a:xfrm>
            <a:off x="1983025" y="58775"/>
            <a:ext cx="7653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Proposed: Architecture Diagram</a:t>
            </a:r>
            <a:endParaRPr b="1" sz="2800"/>
          </a:p>
        </p:txBody>
      </p:sp>
      <p:pic>
        <p:nvPicPr>
          <p:cNvPr id="199" name="Google Shape;199;p34" title="Mermaid Chart - Create complex, visual diagrams with text.-2026-02-27-1725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0113" y="842650"/>
            <a:ext cx="5338821" cy="5907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11548080" y="6392160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7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/>
        </p:nvSpPr>
        <p:spPr>
          <a:xfrm>
            <a:off x="1983025" y="58775"/>
            <a:ext cx="7653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Proposed: Logic Flowchart and ER Diagram</a:t>
            </a:r>
            <a:endParaRPr b="1" sz="2800"/>
          </a:p>
        </p:txBody>
      </p:sp>
      <p:pic>
        <p:nvPicPr>
          <p:cNvPr id="206" name="Google Shape;206;p35" title="Mermaid Chart - Create complex, visual diagrams with text.-2026-02-27-173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013" y="851125"/>
            <a:ext cx="3766883" cy="59070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5"/>
          <p:cNvSpPr txBox="1"/>
          <p:nvPr/>
        </p:nvSpPr>
        <p:spPr>
          <a:xfrm>
            <a:off x="11548080" y="6392160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8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35" title="Mermaid Chart - Create complex, visual diagrams with text.-2026-02-27-17445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7775" y="2017813"/>
            <a:ext cx="2687024" cy="282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/>
        </p:nvSpPr>
        <p:spPr>
          <a:xfrm>
            <a:off x="1031775" y="1166775"/>
            <a:ext cx="9882300" cy="49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1" lang="en-GB" sz="2200"/>
              <a:t> </a:t>
            </a:r>
            <a:r>
              <a:rPr b="1" i="0" lang="en-GB" sz="2200" u="none" cap="none" strike="noStrike">
                <a:solidFill>
                  <a:srgbClr val="000000"/>
                </a:solidFill>
              </a:rPr>
              <a:t>A Standalone Executable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A JAR or native installer for the LockBox application.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/>
              <a:t> </a:t>
            </a:r>
            <a:r>
              <a:rPr b="1" i="0" lang="en-GB" sz="2200" u="none" cap="none" strike="noStrike">
                <a:solidFill>
                  <a:srgbClr val="000000"/>
                </a:solidFill>
              </a:rPr>
              <a:t>Encrypted Local Vault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A .db file that is cryptographically secure even if stolen.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/>
              <a:t> </a:t>
            </a:r>
            <a:r>
              <a:rPr b="1" i="0" lang="en-GB" sz="2200" u="none" cap="none" strike="noStrike">
                <a:solidFill>
                  <a:srgbClr val="000000"/>
                </a:solidFill>
              </a:rPr>
              <a:t>Security Documentation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A guide explaining the implementation of the AES-GCM and PBKDF2 parameters.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/>
              <a:t> </a:t>
            </a:r>
            <a:r>
              <a:rPr b="1" i="0" lang="en-GB" sz="2200" u="none" cap="none" strike="noStrike">
                <a:solidFill>
                  <a:srgbClr val="000000"/>
                </a:solidFill>
              </a:rPr>
              <a:t>Feature-Complete UI</a:t>
            </a: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 A functional dashboard allowing for full CRUD (Create, Read, Update, Delete) operations on user credentials with automated "Clip-and-Clear" clipboard safety.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6"/>
          <p:cNvSpPr txBox="1"/>
          <p:nvPr/>
        </p:nvSpPr>
        <p:spPr>
          <a:xfrm>
            <a:off x="1425250" y="347300"/>
            <a:ext cx="647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Project's Expected Result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6"/>
          <p:cNvSpPr/>
          <p:nvPr/>
        </p:nvSpPr>
        <p:spPr>
          <a:xfrm>
            <a:off x="958315" y="436998"/>
            <a:ext cx="432005" cy="343818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6" name="Google Shape;216;p36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9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 txBox="1"/>
          <p:nvPr/>
        </p:nvSpPr>
        <p:spPr>
          <a:xfrm>
            <a:off x="1474200" y="1067050"/>
            <a:ext cx="735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1050840" y="1104480"/>
            <a:ext cx="432000" cy="343800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3" name="Google Shape;223;p37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4" name="Google Shape;224;p37"/>
          <p:cNvGraphicFramePr/>
          <p:nvPr/>
        </p:nvGraphicFramePr>
        <p:xfrm>
          <a:off x="1474200" y="1993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{77360868-9062-4009-A375-45B84B115211}</a:tableStyleId>
              </a:tblPr>
              <a:tblGrid>
                <a:gridCol w="4843700"/>
                <a:gridCol w="4178575"/>
              </a:tblGrid>
              <a:tr h="73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Conclusion (The Now)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rgbClr val="1F1F1F"/>
                          </a:solidFill>
                        </a:rPr>
                        <a:t>Future Work (The Next)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73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✓ Local-First Security Architecture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→ Browser Extension for Auto-fill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✓ Military-Grade AES-256-GCM Encryption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→ Biometric (Fingerprint) Unlocking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✓ 100% User Data Sovereignty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→ Mobile View-Only Companion App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✓ Zero-Knowledge Logic Flow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F1F1F"/>
                          </a:solidFill>
                        </a:rPr>
                        <a:t>→ Encrypted Cloud Backup Support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/>
        </p:nvSpPr>
        <p:spPr>
          <a:xfrm>
            <a:off x="1122475" y="1775875"/>
            <a:ext cx="9617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NIST Special Publication 800-63B: Digital Identity Guidelines regarding password complexity and storage. [Original Source: nist.gov]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OWASP Password Storage Cheat Sheet: Recommendations for PBKDF2 iterations and salt lengths. [Original Source: owasp.org]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SQLite Documentation: For local storage implementation. [Original Source: sqlite.org]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b="0" i="0" lang="en-GB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Cryptography Architecture (JCA) Reference Guide: Implementation of Cipher and SecretKeyFactory. [Original Source: oracle.com]</a:t>
            </a:r>
            <a:endParaRPr b="0" i="0" sz="2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1543680" y="1067040"/>
            <a:ext cx="4131000" cy="52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1120320" y="1139400"/>
            <a:ext cx="432000" cy="343800"/>
          </a:xfrm>
          <a:custGeom>
            <a:rect b="b" l="l" r="r" t="t"/>
            <a:pathLst>
              <a:path extrusionOk="0" h="21600" w="27136">
                <a:moveTo>
                  <a:pt x="0" y="5400"/>
                </a:moveTo>
                <a:lnTo>
                  <a:pt x="21736" y="54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21736" y="5400"/>
                </a:move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1736" y="5400"/>
                </a:lnTo>
                <a:close/>
                <a:moveTo>
                  <a:pt x="0" y="5400"/>
                </a:moveTo>
                <a:lnTo>
                  <a:pt x="5400" y="0"/>
                </a:lnTo>
                <a:lnTo>
                  <a:pt x="27136" y="0"/>
                </a:lnTo>
                <a:lnTo>
                  <a:pt x="27136" y="16200"/>
                </a:lnTo>
                <a:lnTo>
                  <a:pt x="21736" y="21600"/>
                </a:lnTo>
                <a:lnTo>
                  <a:pt x="0" y="21600"/>
                </a:lnTo>
                <a:close/>
                <a:moveTo>
                  <a:pt x="0" y="5400"/>
                </a:moveTo>
                <a:lnTo>
                  <a:pt x="21736" y="5400"/>
                </a:lnTo>
                <a:lnTo>
                  <a:pt x="27136" y="0"/>
                </a:lnTo>
                <a:moveTo>
                  <a:pt x="21736" y="5400"/>
                </a:moveTo>
                <a:lnTo>
                  <a:pt x="21736" y="21600"/>
                </a:lnTo>
              </a:path>
            </a:pathLst>
          </a:custGeom>
          <a:solidFill>
            <a:srgbClr val="156082"/>
          </a:solidFill>
          <a:ln cap="flat" cmpd="sng" w="19075">
            <a:solidFill>
              <a:srgbClr val="042433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32" name="Google Shape;232;p38"/>
          <p:cNvSpPr txBox="1"/>
          <p:nvPr/>
        </p:nvSpPr>
        <p:spPr>
          <a:xfrm>
            <a:off x="11548080" y="639216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